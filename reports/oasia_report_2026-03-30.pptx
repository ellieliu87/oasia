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A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A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EDF3"/>
                </a:solidFill>
              </a:rPr>
              <a:t>Oasia Portfolio Report — March 30,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7A8"/>
                </a:solidFill>
              </a:rPr>
              <a:t>As of 2026-03-30  ·  Oasia MBS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7A8"/>
                </a:solidFill>
              </a:rPr>
              <a:t>MV: $3736682220.0M   OAS: 44 bps   OAD: 4.25 yr   Yield: 5.44%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Dashboard — Portfolio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5669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Market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80467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$3736682220.0M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5608" y="50292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5669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Book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80467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$3708131109.0M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50292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3" y="5669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903" y="80467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8184" y="50292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5669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OAS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80467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44.0 bps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6304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152704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176479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4.25 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35608" y="146304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9616" y="152704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Book 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176479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5.44%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96896" y="1463040"/>
            <a:ext cx="1024128" cy="822960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3" y="152704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Unrealized P&amp;L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3" y="176479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$28551115K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8184" y="1463040"/>
            <a:ext cx="1024128" cy="822960"/>
          </a:xfrm>
          <a:prstGeom prst="rect">
            <a:avLst/>
          </a:prstGeom>
          <a:solidFill>
            <a:srgbClr val="8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2" y="152704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97A8"/>
                </a:solidFill>
              </a:rPr>
              <a:t>EVE +200bp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2" y="1764792"/>
            <a:ext cx="896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-8.5%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663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⚠  EVE BREACH — rebalancing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Dashboard — Sector Allocation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7680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Dashboard — YTD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1480"/>
            <a:ext cx="8595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Dashboard — Portfolio Health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84048"/>
            <a:ext cx="5029200" cy="42976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80" y="438912"/>
          <a:ext cx="374903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</a:tblGrid>
              <a:tr h="384048"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Duration Risk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94.0/10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OAD 4.25 yr vs benchmark 4.2 yr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Convexity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73.0/10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Avg convexity -0.77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Credit Quality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100.0/10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Agency / GSE only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Liquidity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80.0/10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TBA-eligible 80%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Concentration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61.0/10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Top issuer 39%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Portfolio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Portfolio Analytics —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438912"/>
          <a:ext cx="4114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65760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 Market Value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$3736682220.00M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 Book Value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$3708131109.00M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Unrealized P&amp;L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$28551115K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# Positions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Weighted OAS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44.0 bps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Weighted OAD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4.25 yr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Weighted Convexity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-0.800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Book Yield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5.44%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Annual Income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$200342868K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EVE Δ +200bp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-8.5%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EVE Limit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-5.0%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80560" y="438912"/>
          <a:ext cx="44805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/>
                <a:gridCol w="896112"/>
                <a:gridCol w="896112"/>
                <a:gridCol w="896112"/>
                <a:gridCol w="896112"/>
              </a:tblGrid>
              <a:tr h="402336"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Pool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MV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OAS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OAD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FNMA_CC30_6.0_A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CC30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$599433948.0M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4.84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FHLMC_CC30_5.5_B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CC30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$538494728.0M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4.79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GNMA_GN30_6.0_C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GN30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$461644690.0M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4.52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FNMA_CC15_5.5_D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CC15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$396701141.0M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3.32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FHLMC_CC15_6.0_E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CC15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$308813595.0M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3.20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GNMA_GN30_5.5_F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GN30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$262662139.0M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4.59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Portfolio Analytics — EVE Stress Test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84048"/>
            <a:ext cx="5486400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0" y="438912"/>
          <a:ext cx="3200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402336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Shock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EVE Δ%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-300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+12.8%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-200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+8.5%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-100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+4.2%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-4.2%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-8.5%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⚠ BREACH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-12.8%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⚠ BREACH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Portfolio Analytics — Full Holdings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438912"/>
          <a:ext cx="8869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313508"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Pool ID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Coupon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Par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MV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OAS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OAD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1">
                          <a:solidFill>
                            <a:srgbClr val="E6EDF3"/>
                          </a:solidFill>
                        </a:rPr>
                        <a:t>P&amp;L%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FNMA_CC30_6.0_A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CC30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6.00%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$600000000.0M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$599433948.0M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4.84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+0.90%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FHLMC_CC30_5.5_B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CC30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$550000000.0M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$538494728.0M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4.79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+0.75%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GNMA_GN30_6.0_C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GN30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6.00%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$460000000.0M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$461644690.0M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4.52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+0.90%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FNMA_CC15_5.5_D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CC15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$400000000.0M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$396701141.0M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3.32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+0.68%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FHLMC_CC15_6.0_E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CC15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6.00%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$310000000.0M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$308813595.0M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3.20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+0.65%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GNMA_GN30_5.5_F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GN30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$270000000.0M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$262662139.0M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4.59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+0.59%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FNMA_CC30_6.5_G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CC30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6.50%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$230000000.0M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$231981139.0M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4.89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+1.14%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GNMA_GN15_5.5_H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GN15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$200000000.0M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$196797967.0M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3.12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+0.43%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FNMA_ARM_5.5_I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$150000000.0M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$147691495.0M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2.53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+0.53%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UST_TSY_4.5_J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TSY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$200000000.0M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$197169575.0M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4.97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+0.88%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CMBS_AAA_5.0_K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CMBS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5.00%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$120000000.0M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$119246596.0M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109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+1.05%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13508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FNMA_CMO_5.5_L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CMO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5.50%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$100000000.0M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$99012174.0M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4.11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+0.69%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13516"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FHLB_CDBT_4.0_M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CDBT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4.00%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$180000000.0M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$177033033.0M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3.50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</a:rPr>
                        <a:t>+0.56%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Security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Security Analytics — Universe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438912"/>
          <a:ext cx="8869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457200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Balance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Avg Cpn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Avg OAS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Avg OAD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Avg CPR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Avg FICO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CC30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440.77B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5.93%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3.05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18.0%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745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CC15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104.72B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5.69%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1.83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745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GN30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51.42B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5.73%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3.21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709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GN15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23.27B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5.41%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1.87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16.9%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709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4754880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97A8"/>
                </a:solidFill>
              </a:rPr>
              <a:t>Total: 1000 pools  ·  Balance: 620.19B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Security Analytics — FNMA_CC30_6.0_A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438912"/>
          <a:ext cx="3474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</a:tblGrid>
              <a:tr h="411480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Characteristic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Pool ID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FNMA_CC30_6.0_A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Coupon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WAC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WALA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WAM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FICO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LTV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Orig Balance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94760" y="438912"/>
          <a:ext cx="52120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384048"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Shock (bps)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OAS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OAD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Convexity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Yield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1">
                          <a:solidFill>
                            <a:srgbClr val="E6EDF3"/>
                          </a:solidFill>
                        </a:rPr>
                        <a:t>CPR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130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3.20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19.759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Up 100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3.29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20.849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Up 200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-76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3.38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22.003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Up 300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-181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3.48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23.222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Down 100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3.12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18.733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Down 200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334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3.04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17.771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Down 300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435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2.96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16.873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Flattener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127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3.25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20.266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Steepener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133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3.15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19.246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850" b="0">
                          <a:solidFill>
                            <a:srgbClr val="E6EDF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Attribution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Attribution — OAS Attribution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84048"/>
            <a:ext cx="5486400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0" y="438912"/>
          <a:ext cx="3200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02336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Driver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Sector Spread Change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+2.50 bps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Spread Carry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+0.30 bps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Mix New Purchases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+1.80 bps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Mix Paydowns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-0.40 bps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Prepay Model Effect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-0.20 bps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+4.00 bps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+8.00 bps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Attribution — OAD Attribution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84048"/>
            <a:ext cx="5486400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0" y="438912"/>
          <a:ext cx="3200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02336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Driver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Seasoning Effect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-0.02 yrs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Rate Level Effect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+0.15 yrs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Mix New Purchases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+0.08 yrs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Mix Paydowns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-0.01 yrs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Sales Disposals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+0.00 yrs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+0.20 yrs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+0.40 yrs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Attribution — Yield Attribution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84048"/>
            <a:ext cx="5486400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0" y="438912"/>
          <a:ext cx="3200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02336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Driver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Prepay Burndown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-0.00 %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New Purchases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+0.01 %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Paydown Effect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+0.00 %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Coupon Reinvested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+0.00 %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Amortization Scheduled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-0.01 %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+0.01 %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+0.02 %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6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Attribution — EVE Attribution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84048"/>
            <a:ext cx="5486400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0" y="438912"/>
          <a:ext cx="32004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02336"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Driver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1">
                          <a:solidFill>
                            <a:srgbClr val="E6EDF3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A6FD1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Rate Curve Change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-450000.00 $K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Portfolio Mix Change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+120000.00 $K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Prepay Model Effect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+30000.00 $K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New Purchases Added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-50000.00 $K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-350000.00 $K</a:t>
                      </a:r>
                    </a:p>
                  </a:txBody>
                  <a:tcPr>
                    <a:solidFill>
                      <a:srgbClr val="161C26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</a:rPr>
                        <a:t>-700000.00 $K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